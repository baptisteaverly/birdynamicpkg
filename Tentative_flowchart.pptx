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7999710" cy="1799971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682" userDrawn="1">
          <p15:clr>
            <a:srgbClr val="A4A3A4"/>
          </p15:clr>
        </p15:guide>
        <p15:guide id="2" pos="567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5682"/>
        <p:guide pos="56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00" y="2945971"/>
            <a:ext cx="13500000" cy="6266957"/>
          </a:xfrm>
        </p:spPr>
        <p:txBody>
          <a:bodyPr anchor="b"/>
          <a:lstStyle>
            <a:lvl1pPr algn="ctr">
              <a:defRPr sz="1181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00" y="9454607"/>
            <a:ext cx="13500000" cy="4346034"/>
          </a:xfrm>
        </p:spPr>
        <p:txBody>
          <a:bodyPr/>
          <a:lstStyle>
            <a:lvl1pPr marL="0" indent="0" algn="ctr">
              <a:buNone/>
              <a:defRPr sz="4725"/>
            </a:lvl1pPr>
            <a:lvl2pPr marL="899795" indent="0" algn="ctr">
              <a:buNone/>
              <a:defRPr sz="3935"/>
            </a:lvl2pPr>
            <a:lvl3pPr marL="1800225" indent="0" algn="ctr">
              <a:buNone/>
              <a:defRPr sz="3545"/>
            </a:lvl3pPr>
            <a:lvl4pPr marL="2700020" indent="0" algn="ctr">
              <a:buNone/>
              <a:defRPr sz="3150"/>
            </a:lvl4pPr>
            <a:lvl5pPr marL="3599815" indent="0" algn="ctr">
              <a:buNone/>
              <a:defRPr sz="3150"/>
            </a:lvl5pPr>
            <a:lvl6pPr marL="4500245" indent="0" algn="ctr">
              <a:buNone/>
              <a:defRPr sz="3150"/>
            </a:lvl6pPr>
            <a:lvl7pPr marL="5400040" indent="0" algn="ctr">
              <a:buNone/>
              <a:defRPr sz="3150"/>
            </a:lvl7pPr>
            <a:lvl8pPr marL="6299835" indent="0" algn="ctr">
              <a:buNone/>
              <a:defRPr sz="3150"/>
            </a:lvl8pPr>
            <a:lvl9pPr marL="7200265" indent="0" algn="ctr">
              <a:buNone/>
              <a:defRPr sz="315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25" y="4487710"/>
            <a:ext cx="15525000" cy="7487846"/>
          </a:xfrm>
        </p:spPr>
        <p:txBody>
          <a:bodyPr anchor="b"/>
          <a:lstStyle>
            <a:lvl1pPr>
              <a:defRPr sz="1181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25" y="12046394"/>
            <a:ext cx="15525000" cy="3937681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75000"/>
                  </a:schemeClr>
                </a:solidFill>
              </a:defRPr>
            </a:lvl1pPr>
            <a:lvl2pPr marL="899795" indent="0">
              <a:buNone/>
              <a:defRPr sz="3935">
                <a:solidFill>
                  <a:schemeClr val="tx1">
                    <a:tint val="75000"/>
                  </a:schemeClr>
                </a:solidFill>
              </a:defRPr>
            </a:lvl2pPr>
            <a:lvl3pPr marL="1800225" indent="0">
              <a:buNone/>
              <a:defRPr sz="3545">
                <a:solidFill>
                  <a:schemeClr val="tx1">
                    <a:tint val="75000"/>
                  </a:schemeClr>
                </a:solidFill>
              </a:defRPr>
            </a:lvl3pPr>
            <a:lvl4pPr marL="2700020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4pPr>
            <a:lvl5pPr marL="3599815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5pPr>
            <a:lvl6pPr marL="4500245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6pPr>
            <a:lvl7pPr marL="5400040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7pPr>
            <a:lvl8pPr marL="6299835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8pPr>
            <a:lvl9pPr marL="7200265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00" y="4791889"/>
            <a:ext cx="7650000" cy="11421365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500" y="4791889"/>
            <a:ext cx="7650000" cy="11421365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45" y="958378"/>
            <a:ext cx="15525000" cy="347932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45" y="4412706"/>
            <a:ext cx="7614843" cy="2162599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899795" indent="0">
              <a:buNone/>
              <a:defRPr sz="3935" b="1"/>
            </a:lvl2pPr>
            <a:lvl3pPr marL="1800225" indent="0">
              <a:buNone/>
              <a:defRPr sz="3545" b="1"/>
            </a:lvl3pPr>
            <a:lvl4pPr marL="2700020" indent="0">
              <a:buNone/>
              <a:defRPr sz="3150" b="1"/>
            </a:lvl4pPr>
            <a:lvl5pPr marL="3599815" indent="0">
              <a:buNone/>
              <a:defRPr sz="3150" b="1"/>
            </a:lvl5pPr>
            <a:lvl6pPr marL="4500245" indent="0">
              <a:buNone/>
              <a:defRPr sz="3150" b="1"/>
            </a:lvl6pPr>
            <a:lvl7pPr marL="5400040" indent="0">
              <a:buNone/>
              <a:defRPr sz="3150" b="1"/>
            </a:lvl7pPr>
            <a:lvl8pPr marL="6299835" indent="0">
              <a:buNone/>
              <a:defRPr sz="3150" b="1"/>
            </a:lvl8pPr>
            <a:lvl9pPr marL="7200265" indent="0">
              <a:buNone/>
              <a:defRPr sz="315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45" y="6575305"/>
            <a:ext cx="7614843" cy="967128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500" y="4412706"/>
            <a:ext cx="7652345" cy="2162599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899795" indent="0">
              <a:buNone/>
              <a:defRPr sz="3935" b="1"/>
            </a:lvl2pPr>
            <a:lvl3pPr marL="1800225" indent="0">
              <a:buNone/>
              <a:defRPr sz="3545" b="1"/>
            </a:lvl3pPr>
            <a:lvl4pPr marL="2700020" indent="0">
              <a:buNone/>
              <a:defRPr sz="3150" b="1"/>
            </a:lvl4pPr>
            <a:lvl5pPr marL="3599815" indent="0">
              <a:buNone/>
              <a:defRPr sz="3150" b="1"/>
            </a:lvl5pPr>
            <a:lvl6pPr marL="4500245" indent="0">
              <a:buNone/>
              <a:defRPr sz="3150" b="1"/>
            </a:lvl6pPr>
            <a:lvl7pPr marL="5400040" indent="0">
              <a:buNone/>
              <a:defRPr sz="3150" b="1"/>
            </a:lvl7pPr>
            <a:lvl8pPr marL="6299835" indent="0">
              <a:buNone/>
              <a:defRPr sz="3150" b="1"/>
            </a:lvl8pPr>
            <a:lvl9pPr marL="7200265" indent="0">
              <a:buNone/>
              <a:defRPr sz="315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500" y="6575305"/>
            <a:ext cx="7652345" cy="967128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45" y="1200056"/>
            <a:ext cx="5805468" cy="420019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345" y="2591787"/>
            <a:ext cx="9112500" cy="12792260"/>
          </a:xfrm>
        </p:spPr>
        <p:txBody>
          <a:bodyPr/>
          <a:lstStyle>
            <a:lvl1pPr>
              <a:defRPr sz="6300"/>
            </a:lvl1pPr>
            <a:lvl2pPr>
              <a:defRPr sz="5510"/>
            </a:lvl2pPr>
            <a:lvl3pPr>
              <a:defRPr sz="4725"/>
            </a:lvl3pPr>
            <a:lvl4pPr>
              <a:defRPr sz="3935"/>
            </a:lvl4pPr>
            <a:lvl5pPr>
              <a:defRPr sz="3935"/>
            </a:lvl5pPr>
            <a:lvl6pPr>
              <a:defRPr sz="3935"/>
            </a:lvl6pPr>
            <a:lvl7pPr>
              <a:defRPr sz="3935"/>
            </a:lvl7pPr>
            <a:lvl8pPr>
              <a:defRPr sz="3935"/>
            </a:lvl8pPr>
            <a:lvl9pPr>
              <a:defRPr sz="393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45" y="5400251"/>
            <a:ext cx="5805468" cy="10004632"/>
          </a:xfrm>
        </p:spPr>
        <p:txBody>
          <a:bodyPr/>
          <a:lstStyle>
            <a:lvl1pPr marL="0" indent="0">
              <a:buNone/>
              <a:defRPr sz="3150"/>
            </a:lvl1pPr>
            <a:lvl2pPr marL="899795" indent="0">
              <a:buNone/>
              <a:defRPr sz="2755"/>
            </a:lvl2pPr>
            <a:lvl3pPr marL="1800225" indent="0">
              <a:buNone/>
              <a:defRPr sz="2360"/>
            </a:lvl3pPr>
            <a:lvl4pPr marL="2700020" indent="0">
              <a:buNone/>
              <a:defRPr sz="1970"/>
            </a:lvl4pPr>
            <a:lvl5pPr marL="3599815" indent="0">
              <a:buNone/>
              <a:defRPr sz="1970"/>
            </a:lvl5pPr>
            <a:lvl6pPr marL="4500245" indent="0">
              <a:buNone/>
              <a:defRPr sz="1970"/>
            </a:lvl6pPr>
            <a:lvl7pPr marL="5400040" indent="0">
              <a:buNone/>
              <a:defRPr sz="1970"/>
            </a:lvl7pPr>
            <a:lvl8pPr marL="6299835" indent="0">
              <a:buNone/>
              <a:defRPr sz="1970"/>
            </a:lvl8pPr>
            <a:lvl9pPr marL="7200265" indent="0">
              <a:buNone/>
              <a:defRPr sz="197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45" y="1200056"/>
            <a:ext cx="5805468" cy="420019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652345" y="2591787"/>
            <a:ext cx="9112500" cy="12792260"/>
          </a:xfrm>
        </p:spPr>
        <p:txBody>
          <a:bodyPr/>
          <a:lstStyle>
            <a:lvl1pPr marL="0" indent="0">
              <a:buNone/>
              <a:defRPr sz="6300"/>
            </a:lvl1pPr>
            <a:lvl2pPr marL="899795" indent="0">
              <a:buNone/>
              <a:defRPr sz="5510"/>
            </a:lvl2pPr>
            <a:lvl3pPr marL="1800225" indent="0">
              <a:buNone/>
              <a:defRPr sz="4725"/>
            </a:lvl3pPr>
            <a:lvl4pPr marL="2700020" indent="0">
              <a:buNone/>
              <a:defRPr sz="3935"/>
            </a:lvl4pPr>
            <a:lvl5pPr marL="3599815" indent="0">
              <a:buNone/>
              <a:defRPr sz="3935"/>
            </a:lvl5pPr>
            <a:lvl6pPr marL="4500245" indent="0">
              <a:buNone/>
              <a:defRPr sz="3935"/>
            </a:lvl6pPr>
            <a:lvl7pPr marL="5400040" indent="0">
              <a:buNone/>
              <a:defRPr sz="3935"/>
            </a:lvl7pPr>
            <a:lvl8pPr marL="6299835" indent="0">
              <a:buNone/>
              <a:defRPr sz="3935"/>
            </a:lvl8pPr>
            <a:lvl9pPr marL="7200265" indent="0">
              <a:buNone/>
              <a:defRPr sz="3935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45" y="5400251"/>
            <a:ext cx="5805468" cy="10004632"/>
          </a:xfrm>
        </p:spPr>
        <p:txBody>
          <a:bodyPr/>
          <a:lstStyle>
            <a:lvl1pPr marL="0" indent="0">
              <a:buNone/>
              <a:defRPr sz="3150"/>
            </a:lvl1pPr>
            <a:lvl2pPr marL="899795" indent="0">
              <a:buNone/>
              <a:defRPr sz="2755"/>
            </a:lvl2pPr>
            <a:lvl3pPr marL="1800225" indent="0">
              <a:buNone/>
              <a:defRPr sz="2360"/>
            </a:lvl3pPr>
            <a:lvl4pPr marL="2700020" indent="0">
              <a:buNone/>
              <a:defRPr sz="1970"/>
            </a:lvl4pPr>
            <a:lvl5pPr marL="3599815" indent="0">
              <a:buNone/>
              <a:defRPr sz="1970"/>
            </a:lvl5pPr>
            <a:lvl6pPr marL="4500245" indent="0">
              <a:buNone/>
              <a:defRPr sz="1970"/>
            </a:lvl6pPr>
            <a:lvl7pPr marL="5400040" indent="0">
              <a:buNone/>
              <a:defRPr sz="1970"/>
            </a:lvl7pPr>
            <a:lvl8pPr marL="6299835" indent="0">
              <a:buNone/>
              <a:defRPr sz="1970"/>
            </a:lvl8pPr>
            <a:lvl9pPr marL="7200265" indent="0">
              <a:buNone/>
              <a:defRPr sz="197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250" y="958378"/>
            <a:ext cx="3881250" cy="1525487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00" y="958378"/>
            <a:ext cx="11418750" cy="1525487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00" y="958378"/>
            <a:ext cx="15525000" cy="34793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00" y="4791889"/>
            <a:ext cx="15525000" cy="11421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00" y="16684107"/>
            <a:ext cx="4050000" cy="9583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500" y="16684107"/>
            <a:ext cx="6075000" cy="9583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500" y="16684107"/>
            <a:ext cx="4050000" cy="9583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800225" rtl="0" eaLnBrk="1" latinLnBrk="0" hangingPunct="1">
        <a:lnSpc>
          <a:spcPct val="90000"/>
        </a:lnSpc>
        <a:spcBef>
          <a:spcPct val="0"/>
        </a:spcBef>
        <a:buNone/>
        <a:defRPr sz="86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215" indent="-450215" algn="l" defTabSz="1800225" rtl="0" eaLnBrk="1" latinLnBrk="0" hangingPunct="1">
        <a:lnSpc>
          <a:spcPct val="90000"/>
        </a:lnSpc>
        <a:spcBef>
          <a:spcPct val="395000"/>
        </a:spcBef>
        <a:buFont typeface="Arial" panose="020B0604020202020204" pitchFamily="34" charset="0"/>
        <a:buChar char="•"/>
        <a:defRPr sz="5510" kern="1200">
          <a:solidFill>
            <a:schemeClr val="tx1"/>
          </a:solidFill>
          <a:latin typeface="+mn-lt"/>
          <a:ea typeface="+mn-ea"/>
          <a:cs typeface="+mn-cs"/>
        </a:defRPr>
      </a:lvl1pPr>
      <a:lvl2pPr marL="1350010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49805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935" kern="1200">
          <a:solidFill>
            <a:schemeClr val="tx1"/>
          </a:solidFill>
          <a:latin typeface="+mn-lt"/>
          <a:ea typeface="+mn-ea"/>
          <a:cs typeface="+mn-cs"/>
        </a:defRPr>
      </a:lvl3pPr>
      <a:lvl4pPr marL="3150235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4pPr>
      <a:lvl5pPr marL="4050030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5pPr>
      <a:lvl6pPr marL="4949825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6pPr>
      <a:lvl7pPr marL="5850255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7pPr>
      <a:lvl8pPr marL="6750050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8pPr>
      <a:lvl9pPr marL="7649845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1pPr>
      <a:lvl2pPr marL="89979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2pPr>
      <a:lvl3pPr marL="180022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3pPr>
      <a:lvl4pPr marL="2700020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4pPr>
      <a:lvl5pPr marL="359981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5pPr>
      <a:lvl6pPr marL="450024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6pPr>
      <a:lvl7pPr marL="5400040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7pPr>
      <a:lvl8pPr marL="629983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8pPr>
      <a:lvl9pPr marL="720026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Rounded Rectangle 8"/>
          <p:cNvSpPr/>
          <p:nvPr/>
        </p:nvSpPr>
        <p:spPr>
          <a:xfrm>
            <a:off x="9065599" y="1548435"/>
            <a:ext cx="2574241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bdy_get_distances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28761" y="544038"/>
            <a:ext cx="1994896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all colonies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9640641" y="405608"/>
            <a:ext cx="1177439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030A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7030A0"/>
                </a:solidFill>
              </a:rPr>
              <a:t>parcs</a:t>
            </a:r>
            <a:endParaRPr lang="fr-FR" altLang="en-US" sz="2065" b="1">
              <a:solidFill>
                <a:srgbClr val="7030A0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1970928" y="500858"/>
            <a:ext cx="1841154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cost matrix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192155" y="2690250"/>
            <a:ext cx="2321129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eucl &amp; shpa dist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192260" y="4179570"/>
            <a:ext cx="257429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bdy_apportionning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640776" y="4179491"/>
            <a:ext cx="2321129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030A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7030A0"/>
                </a:solidFill>
              </a:rPr>
              <a:t>bird params</a:t>
            </a:r>
            <a:endParaRPr lang="fr-FR" altLang="en-US" sz="2065" b="1">
              <a:solidFill>
                <a:srgbClr val="7030A0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12508773" y="2689703"/>
            <a:ext cx="1841154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sea_area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19" name="Curved Connector 18"/>
          <p:cNvCxnSpPr>
            <a:stCxn id="13" idx="2"/>
            <a:endCxn id="14" idx="0"/>
          </p:cNvCxnSpPr>
          <p:nvPr/>
        </p:nvCxnSpPr>
        <p:spPr>
          <a:xfrm rot="5400000" flipV="1">
            <a:off x="9960928" y="3661093"/>
            <a:ext cx="910590" cy="126365"/>
          </a:xfrm>
          <a:prstGeom prst="curvedConnector3">
            <a:avLst>
              <a:gd name="adj1" fmla="val 49965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Curved Connector 19"/>
          <p:cNvCxnSpPr>
            <a:stCxn id="11" idx="2"/>
            <a:endCxn id="9" idx="0"/>
          </p:cNvCxnSpPr>
          <p:nvPr/>
        </p:nvCxnSpPr>
        <p:spPr>
          <a:xfrm rot="5400000" flipV="1">
            <a:off x="10009188" y="1204278"/>
            <a:ext cx="563880" cy="123825"/>
          </a:xfrm>
          <a:prstGeom prst="curvedConnector3">
            <a:avLst>
              <a:gd name="adj1" fmla="val 49944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Curved Connector 21"/>
          <p:cNvCxnSpPr>
            <a:stCxn id="10" idx="2"/>
            <a:endCxn id="9" idx="1"/>
          </p:cNvCxnSpPr>
          <p:nvPr/>
        </p:nvCxnSpPr>
        <p:spPr>
          <a:xfrm rot="5400000" flipV="1">
            <a:off x="7888605" y="660400"/>
            <a:ext cx="715010" cy="1639570"/>
          </a:xfrm>
          <a:prstGeom prst="curvedConnector2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" name="Curved Connector 22"/>
          <p:cNvCxnSpPr>
            <a:stCxn id="12" idx="2"/>
            <a:endCxn id="9" idx="3"/>
          </p:cNvCxnSpPr>
          <p:nvPr/>
        </p:nvCxnSpPr>
        <p:spPr>
          <a:xfrm rot="5400000">
            <a:off x="11886565" y="833120"/>
            <a:ext cx="758190" cy="1250950"/>
          </a:xfrm>
          <a:prstGeom prst="curvedConnector2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" name="Curved Connector 23"/>
          <p:cNvCxnSpPr>
            <a:stCxn id="9" idx="2"/>
            <a:endCxn id="13" idx="0"/>
          </p:cNvCxnSpPr>
          <p:nvPr/>
        </p:nvCxnSpPr>
        <p:spPr>
          <a:xfrm rot="5400000">
            <a:off x="10070465" y="2407920"/>
            <a:ext cx="563880" cy="3175"/>
          </a:xfrm>
          <a:prstGeom prst="curvedConnector3">
            <a:avLst>
              <a:gd name="adj1" fmla="val 49944"/>
            </a:avLst>
          </a:prstGeom>
          <a:ln>
            <a:solidFill>
              <a:schemeClr val="accent6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Curved Connector 24"/>
          <p:cNvCxnSpPr>
            <a:stCxn id="15" idx="3"/>
            <a:endCxn id="14" idx="1"/>
          </p:cNvCxnSpPr>
          <p:nvPr/>
        </p:nvCxnSpPr>
        <p:spPr>
          <a:xfrm>
            <a:off x="7961630" y="4469130"/>
            <a:ext cx="1230630" cy="3175"/>
          </a:xfrm>
          <a:prstGeom prst="curvedConnector2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Curved Connector 25"/>
          <p:cNvCxnSpPr>
            <a:stCxn id="16" idx="1"/>
            <a:endCxn id="14" idx="3"/>
          </p:cNvCxnSpPr>
          <p:nvPr/>
        </p:nvCxnSpPr>
        <p:spPr>
          <a:xfrm rot="10800000" flipV="1">
            <a:off x="11766550" y="2979420"/>
            <a:ext cx="742315" cy="1489710"/>
          </a:xfrm>
          <a:prstGeom prst="curvedConnector3">
            <a:avLst>
              <a:gd name="adj1" fmla="val 49957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Curved Connector 27"/>
          <p:cNvCxnSpPr>
            <a:stCxn id="10" idx="2"/>
            <a:endCxn id="14" idx="1"/>
          </p:cNvCxnSpPr>
          <p:nvPr/>
        </p:nvCxnSpPr>
        <p:spPr>
          <a:xfrm rot="5400000" flipV="1">
            <a:off x="6636068" y="1912938"/>
            <a:ext cx="3346450" cy="1765935"/>
          </a:xfrm>
          <a:prstGeom prst="curvedConnector2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495698" y="5321778"/>
            <a:ext cx="1841154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RW_group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712200" y="6576060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bdy_processing_mortality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13141325" y="6576060"/>
            <a:ext cx="302895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clean mortality table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32" name="Curved Connector 31"/>
          <p:cNvCxnSpPr>
            <a:stCxn id="29" idx="2"/>
            <a:endCxn id="30" idx="0"/>
          </p:cNvCxnSpPr>
          <p:nvPr/>
        </p:nvCxnSpPr>
        <p:spPr>
          <a:xfrm rot="5400000">
            <a:off x="10072370" y="6232525"/>
            <a:ext cx="675640" cy="10795"/>
          </a:xfrm>
          <a:prstGeom prst="curvedConnector3">
            <a:avLst>
              <a:gd name="adj1" fmla="val 49953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Curved Connector 32"/>
          <p:cNvCxnSpPr>
            <a:stCxn id="14" idx="2"/>
            <a:endCxn id="29" idx="0"/>
          </p:cNvCxnSpPr>
          <p:nvPr/>
        </p:nvCxnSpPr>
        <p:spPr>
          <a:xfrm rot="5400000">
            <a:off x="10165715" y="5008245"/>
            <a:ext cx="563880" cy="6350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752725" y="8875395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bdy_model_no_impact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39" name="Curved Connector 38"/>
          <p:cNvCxnSpPr>
            <a:stCxn id="15" idx="2"/>
            <a:endCxn id="30" idx="1"/>
          </p:cNvCxnSpPr>
          <p:nvPr/>
        </p:nvCxnSpPr>
        <p:spPr>
          <a:xfrm rot="5400000" flipV="1">
            <a:off x="6703060" y="4856480"/>
            <a:ext cx="2107565" cy="1910715"/>
          </a:xfrm>
          <a:prstGeom prst="curvedConnector2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Curved Connector 39"/>
          <p:cNvCxnSpPr>
            <a:stCxn id="15" idx="2"/>
            <a:endCxn id="36" idx="0"/>
          </p:cNvCxnSpPr>
          <p:nvPr/>
        </p:nvCxnSpPr>
        <p:spPr>
          <a:xfrm rot="5400000">
            <a:off x="3564890" y="5638800"/>
            <a:ext cx="4117340" cy="235585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018540" y="7425690"/>
            <a:ext cx="199771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group counts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2752725" y="6290310"/>
            <a:ext cx="1974215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ppa_yr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43" name="Curved Connector 42"/>
          <p:cNvCxnSpPr>
            <a:stCxn id="41" idx="2"/>
            <a:endCxn id="36" idx="1"/>
          </p:cNvCxnSpPr>
          <p:nvPr/>
        </p:nvCxnSpPr>
        <p:spPr>
          <a:xfrm rot="5400000" flipV="1">
            <a:off x="1804670" y="8216900"/>
            <a:ext cx="1160780" cy="735330"/>
          </a:xfrm>
          <a:prstGeom prst="curvedConnector2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3319851" y="10500916"/>
            <a:ext cx="2321129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no impact output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47" name="Curved Connector 46"/>
          <p:cNvCxnSpPr>
            <a:stCxn id="36" idx="2"/>
            <a:endCxn id="45" idx="0"/>
          </p:cNvCxnSpPr>
          <p:nvPr/>
        </p:nvCxnSpPr>
        <p:spPr>
          <a:xfrm rot="5400000" flipV="1">
            <a:off x="3939540" y="9959975"/>
            <a:ext cx="1047115" cy="34925"/>
          </a:xfrm>
          <a:prstGeom prst="curvedConnector3">
            <a:avLst>
              <a:gd name="adj1" fmla="val 5003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10188011" y="8877221"/>
            <a:ext cx="2321129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morta_iter_group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49" name="Curved Connector 48"/>
          <p:cNvCxnSpPr>
            <a:stCxn id="30" idx="2"/>
            <a:endCxn id="48" idx="0"/>
          </p:cNvCxnSpPr>
          <p:nvPr/>
        </p:nvCxnSpPr>
        <p:spPr>
          <a:xfrm rot="5400000" flipV="1">
            <a:off x="10015538" y="7544118"/>
            <a:ext cx="1722755" cy="94361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7341870" y="10500995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bdy_model_with_impact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51" name="Curved Connector 50"/>
          <p:cNvCxnSpPr>
            <a:stCxn id="45" idx="2"/>
            <a:endCxn id="50" idx="1"/>
          </p:cNvCxnSpPr>
          <p:nvPr/>
        </p:nvCxnSpPr>
        <p:spPr>
          <a:xfrm rot="5400000" flipH="1" flipV="1">
            <a:off x="5766753" y="9504363"/>
            <a:ext cx="288925" cy="2861310"/>
          </a:xfrm>
          <a:prstGeom prst="curvedConnector4">
            <a:avLst>
              <a:gd name="adj1" fmla="val -82308"/>
              <a:gd name="adj2" fmla="val 70273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2" name="Curved Connector 51"/>
          <p:cNvCxnSpPr>
            <a:stCxn id="48" idx="2"/>
            <a:endCxn id="50" idx="3"/>
          </p:cNvCxnSpPr>
          <p:nvPr/>
        </p:nvCxnSpPr>
        <p:spPr>
          <a:xfrm rot="5400000">
            <a:off x="10370820" y="9812655"/>
            <a:ext cx="1334770" cy="62103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7585075" y="11808460"/>
            <a:ext cx="276606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with impact output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54" name="Curved Connector 53"/>
          <p:cNvCxnSpPr>
            <a:stCxn id="50" idx="2"/>
            <a:endCxn id="53" idx="0"/>
          </p:cNvCxnSpPr>
          <p:nvPr/>
        </p:nvCxnSpPr>
        <p:spPr>
          <a:xfrm rot="5400000">
            <a:off x="8636953" y="11410633"/>
            <a:ext cx="728980" cy="66675"/>
          </a:xfrm>
          <a:prstGeom prst="curvedConnector3">
            <a:avLst>
              <a:gd name="adj1" fmla="val 49956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Curved Connector 54"/>
          <p:cNvCxnSpPr>
            <a:stCxn id="31" idx="1"/>
            <a:endCxn id="30" idx="3"/>
          </p:cNvCxnSpPr>
          <p:nvPr/>
        </p:nvCxnSpPr>
        <p:spPr>
          <a:xfrm rot="10800000" flipV="1">
            <a:off x="12098020" y="6865620"/>
            <a:ext cx="104330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4178280" y="1548130"/>
            <a:ext cx="315087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bdy_caculate_sea_area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57" name="Curved Connector 56"/>
          <p:cNvCxnSpPr>
            <a:stCxn id="56" idx="2"/>
            <a:endCxn id="16" idx="3"/>
          </p:cNvCxnSpPr>
          <p:nvPr/>
        </p:nvCxnSpPr>
        <p:spPr>
          <a:xfrm rot="5400000">
            <a:off x="14625320" y="1851025"/>
            <a:ext cx="852805" cy="1403985"/>
          </a:xfrm>
          <a:prstGeom prst="curvedConnector2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13660755" y="5321935"/>
            <a:ext cx="315087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bdy_check_mortality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14570075" y="4179570"/>
            <a:ext cx="2759075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030A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7030A0"/>
                </a:solidFill>
              </a:rPr>
              <a:t>raw mortality table</a:t>
            </a:r>
            <a:endParaRPr lang="fr-FR" altLang="en-US" sz="2065" b="1">
              <a:solidFill>
                <a:srgbClr val="7030A0"/>
              </a:solidFill>
            </a:endParaRPr>
          </a:p>
        </p:txBody>
      </p:sp>
      <p:cxnSp>
        <p:nvCxnSpPr>
          <p:cNvPr id="60" name="Curved Connector 59"/>
          <p:cNvCxnSpPr>
            <a:stCxn id="59" idx="2"/>
            <a:endCxn id="58" idx="0"/>
          </p:cNvCxnSpPr>
          <p:nvPr/>
        </p:nvCxnSpPr>
        <p:spPr>
          <a:xfrm rot="5400000">
            <a:off x="15311120" y="4683125"/>
            <a:ext cx="563880" cy="71374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1" name="Curved Connector 60"/>
          <p:cNvCxnSpPr>
            <a:stCxn id="58" idx="2"/>
            <a:endCxn id="31" idx="0"/>
          </p:cNvCxnSpPr>
          <p:nvPr/>
        </p:nvCxnSpPr>
        <p:spPr>
          <a:xfrm rot="5400000">
            <a:off x="14608175" y="5948045"/>
            <a:ext cx="675640" cy="58039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14570075" y="151130"/>
            <a:ext cx="315087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bdy_get_cost_raster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63" name="Curved Connector 62"/>
          <p:cNvCxnSpPr>
            <a:stCxn id="62" idx="1"/>
            <a:endCxn id="12" idx="3"/>
          </p:cNvCxnSpPr>
          <p:nvPr/>
        </p:nvCxnSpPr>
        <p:spPr>
          <a:xfrm rot="10800000" flipV="1">
            <a:off x="13811885" y="440690"/>
            <a:ext cx="758190" cy="34925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7072630" y="8877300"/>
            <a:ext cx="260477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bdy_get_pop_vector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65" name="Curved Connector 64"/>
          <p:cNvCxnSpPr>
            <a:stCxn id="36" idx="3"/>
            <a:endCxn id="64" idx="0"/>
          </p:cNvCxnSpPr>
          <p:nvPr/>
        </p:nvCxnSpPr>
        <p:spPr>
          <a:xfrm flipV="1">
            <a:off x="6138545" y="8877300"/>
            <a:ext cx="2236470" cy="287655"/>
          </a:xfrm>
          <a:prstGeom prst="curvedConnector4">
            <a:avLst>
              <a:gd name="adj1" fmla="val 20897"/>
              <a:gd name="adj2" fmla="val 183444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6" name="Curved Connector 65"/>
          <p:cNvCxnSpPr>
            <a:stCxn id="64" idx="2"/>
          </p:cNvCxnSpPr>
          <p:nvPr/>
        </p:nvCxnSpPr>
        <p:spPr>
          <a:xfrm rot="5400000" flipH="1">
            <a:off x="7141845" y="8221980"/>
            <a:ext cx="234315" cy="2232025"/>
          </a:xfrm>
          <a:prstGeom prst="curvedConnector4">
            <a:avLst>
              <a:gd name="adj1" fmla="val -101626"/>
              <a:gd name="adj2" fmla="val 79147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7341870" y="13004800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bdy_raw_res_table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7341870" y="15210790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bdy_pretty_res_table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69" name="Curved Connector 68"/>
          <p:cNvCxnSpPr>
            <a:stCxn id="53" idx="2"/>
            <a:endCxn id="67" idx="0"/>
          </p:cNvCxnSpPr>
          <p:nvPr/>
        </p:nvCxnSpPr>
        <p:spPr>
          <a:xfrm rot="5400000" flipV="1">
            <a:off x="8692515" y="12661900"/>
            <a:ext cx="617855" cy="66675"/>
          </a:xfrm>
          <a:prstGeom prst="curvedConnector3">
            <a:avLst>
              <a:gd name="adj1" fmla="val 50051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7585075" y="14036675"/>
            <a:ext cx="276606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raw res tables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71" name="Curved Connector 70"/>
          <p:cNvCxnSpPr>
            <a:stCxn id="67" idx="2"/>
            <a:endCxn id="70" idx="0"/>
          </p:cNvCxnSpPr>
          <p:nvPr/>
        </p:nvCxnSpPr>
        <p:spPr>
          <a:xfrm rot="5400000">
            <a:off x="8774430" y="13776325"/>
            <a:ext cx="453390" cy="66675"/>
          </a:xfrm>
          <a:prstGeom prst="curvedConnector3">
            <a:avLst>
              <a:gd name="adj1" fmla="val 4993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2" name="Curved Connector 71"/>
          <p:cNvCxnSpPr>
            <a:stCxn id="70" idx="2"/>
            <a:endCxn id="68" idx="0"/>
          </p:cNvCxnSpPr>
          <p:nvPr/>
        </p:nvCxnSpPr>
        <p:spPr>
          <a:xfrm rot="5400000" flipV="1">
            <a:off x="8703628" y="14879638"/>
            <a:ext cx="595630" cy="66675"/>
          </a:xfrm>
          <a:prstGeom prst="curvedConnector3">
            <a:avLst>
              <a:gd name="adj1" fmla="val 49947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3425805" y="15337790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bdy_pretty_res_table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731125" y="16311245"/>
            <a:ext cx="276606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pretty res tables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75" name="Curved Connector 74"/>
          <p:cNvCxnSpPr>
            <a:stCxn id="68" idx="2"/>
            <a:endCxn id="74" idx="0"/>
          </p:cNvCxnSpPr>
          <p:nvPr/>
        </p:nvCxnSpPr>
        <p:spPr>
          <a:xfrm rot="5400000" flipV="1">
            <a:off x="8813165" y="16010255"/>
            <a:ext cx="521970" cy="79375"/>
          </a:xfrm>
          <a:prstGeom prst="curvedConnector3">
            <a:avLst>
              <a:gd name="adj1" fmla="val 49939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6" name="Curved Connector 75"/>
          <p:cNvCxnSpPr>
            <a:stCxn id="70" idx="3"/>
            <a:endCxn id="73" idx="1"/>
          </p:cNvCxnSpPr>
          <p:nvPr/>
        </p:nvCxnSpPr>
        <p:spPr>
          <a:xfrm>
            <a:off x="10351135" y="14326235"/>
            <a:ext cx="3074670" cy="1301115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7" name="Curved Connector 76"/>
          <p:cNvCxnSpPr>
            <a:stCxn id="74" idx="3"/>
            <a:endCxn id="73" idx="1"/>
          </p:cNvCxnSpPr>
          <p:nvPr/>
        </p:nvCxnSpPr>
        <p:spPr>
          <a:xfrm flipV="1">
            <a:off x="10497185" y="15627350"/>
            <a:ext cx="2928620" cy="973455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8" name="Curved Connector 77"/>
          <p:cNvCxnSpPr>
            <a:stCxn id="42" idx="2"/>
            <a:endCxn id="36" idx="0"/>
          </p:cNvCxnSpPr>
          <p:nvPr/>
        </p:nvCxnSpPr>
        <p:spPr>
          <a:xfrm rot="5400000" flipV="1">
            <a:off x="3089593" y="7519353"/>
            <a:ext cx="2006600" cy="705485"/>
          </a:xfrm>
          <a:prstGeom prst="curvedConnector3">
            <a:avLst>
              <a:gd name="adj1" fmla="val 49984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1018561" y="500858"/>
            <a:ext cx="1994896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030A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7030A0"/>
                </a:solidFill>
              </a:rPr>
              <a:t>effectif data</a:t>
            </a:r>
            <a:endParaRPr lang="fr-FR" altLang="en-US" sz="2065" b="1">
              <a:solidFill>
                <a:srgbClr val="7030A0"/>
              </a:solidFill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819150" y="1548130"/>
            <a:ext cx="3131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2"/>
                </a:solidFill>
              </a:rPr>
              <a:t>bdy_process_effec_data</a:t>
            </a:r>
            <a:endParaRPr lang="fr-FR" altLang="en-US" sz="2065" b="1">
              <a:solidFill>
                <a:schemeClr val="accent2"/>
              </a:solidFill>
            </a:endParaRPr>
          </a:p>
        </p:txBody>
      </p:sp>
      <p:cxnSp>
        <p:nvCxnSpPr>
          <p:cNvPr id="83" name="Curved Connector 82"/>
          <p:cNvCxnSpPr>
            <a:stCxn id="79" idx="2"/>
            <a:endCxn id="80" idx="0"/>
          </p:cNvCxnSpPr>
          <p:nvPr/>
        </p:nvCxnSpPr>
        <p:spPr>
          <a:xfrm rot="5400000" flipV="1">
            <a:off x="1966278" y="1129348"/>
            <a:ext cx="468630" cy="368935"/>
          </a:xfrm>
          <a:prstGeom prst="curvedConnector3">
            <a:avLst>
              <a:gd name="adj1" fmla="val 49932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4" name="Curved Connector 83"/>
          <p:cNvCxnSpPr>
            <a:stCxn id="80" idx="3"/>
            <a:endCxn id="10" idx="1"/>
          </p:cNvCxnSpPr>
          <p:nvPr/>
        </p:nvCxnSpPr>
        <p:spPr>
          <a:xfrm flipV="1">
            <a:off x="3950970" y="833755"/>
            <a:ext cx="2477770" cy="1003935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6" name="Curved Connector 85"/>
          <p:cNvCxnSpPr>
            <a:stCxn id="80" idx="2"/>
            <a:endCxn id="42" idx="0"/>
          </p:cNvCxnSpPr>
          <p:nvPr/>
        </p:nvCxnSpPr>
        <p:spPr>
          <a:xfrm rot="5400000" flipV="1">
            <a:off x="980758" y="3530918"/>
            <a:ext cx="4163695" cy="135509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7" name="Curved Connector 86"/>
          <p:cNvCxnSpPr>
            <a:stCxn id="80" idx="1"/>
            <a:endCxn id="41" idx="0"/>
          </p:cNvCxnSpPr>
          <p:nvPr/>
        </p:nvCxnSpPr>
        <p:spPr>
          <a:xfrm rot="10800000" flipH="1" flipV="1">
            <a:off x="819150" y="1837690"/>
            <a:ext cx="1198245" cy="5588000"/>
          </a:xfrm>
          <a:prstGeom prst="curvedConnector4">
            <a:avLst>
              <a:gd name="adj1" fmla="val -19873"/>
              <a:gd name="adj2" fmla="val 52591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4294505" y="2691765"/>
            <a:ext cx="3131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2"/>
                </a:solidFill>
              </a:rPr>
              <a:t>bdy_group_colonies</a:t>
            </a:r>
            <a:endParaRPr lang="fr-FR" altLang="en-US" sz="2065" b="1">
              <a:solidFill>
                <a:schemeClr val="accent2"/>
              </a:solidFill>
            </a:endParaRPr>
          </a:p>
        </p:txBody>
      </p:sp>
      <p:cxnSp>
        <p:nvCxnSpPr>
          <p:cNvPr id="94" name="Straight Connector 93"/>
          <p:cNvCxnSpPr/>
          <p:nvPr/>
        </p:nvCxnSpPr>
        <p:spPr>
          <a:xfrm flipH="1">
            <a:off x="-53975" y="3717290"/>
            <a:ext cx="18102580" cy="45720"/>
          </a:xfrm>
          <a:prstGeom prst="line">
            <a:avLst/>
          </a:prstGeom>
          <a:ln w="38100" cap="flat" cmpd="sng" algn="ctr">
            <a:solidFill>
              <a:schemeClr val="accent4">
                <a:lumMod val="50000"/>
              </a:schemeClr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5" name="Text Box 94"/>
          <p:cNvSpPr txBox="1"/>
          <p:nvPr/>
        </p:nvSpPr>
        <p:spPr>
          <a:xfrm>
            <a:off x="16170275" y="3268345"/>
            <a:ext cx="1710690" cy="3822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fr-FR" altLang="en-US" b="1">
                <a:solidFill>
                  <a:schemeClr val="accent4">
                    <a:lumMod val="50000"/>
                  </a:schemeClr>
                </a:solidFill>
              </a:rPr>
              <a:t>species level</a:t>
            </a:r>
            <a:endParaRPr lang="fr-FR" altLang="en-US" b="1">
              <a:solidFill>
                <a:schemeClr val="accent4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508</Words>
  <Application>WPS Presentation</Application>
  <PresentationFormat>Widescreen</PresentationFormat>
  <Paragraphs>64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SimSun</vt:lpstr>
      <vt:lpstr>Wingdings</vt:lpstr>
      <vt:lpstr>Arial Unicode MS</vt:lpstr>
      <vt:lpstr>Calibri Light</vt:lpstr>
      <vt:lpstr>Calibri</vt:lpstr>
      <vt:lpstr>Microsoft YaHei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bapti</dc:creator>
  <cp:lastModifiedBy>Baptiste</cp:lastModifiedBy>
  <cp:revision>4</cp:revision>
  <dcterms:created xsi:type="dcterms:W3CDTF">2025-07-23T00:59:00Z</dcterms:created>
  <dcterms:modified xsi:type="dcterms:W3CDTF">2026-04-29T08:30:01Z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0E25FAD055834C2199D15360173BA892_11</vt:lpwstr>
  </property>
  <property fmtid="{D5CDD505-2E9C-101B-9397-08002B2CF9AE}" pid="3" name="KSOProductBuildVer">
    <vt:lpwstr>1033-12.2.0.23196</vt:lpwstr>
  </property>
</Properties>
</file>