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7999710" cy="1799971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682" userDrawn="1">
          <p15:clr>
            <a:srgbClr val="A4A3A4"/>
          </p15:clr>
        </p15:guide>
        <p15:guide id="2" pos="571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5682"/>
        <p:guide pos="57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00" y="2945971"/>
            <a:ext cx="13500000" cy="6266957"/>
          </a:xfrm>
        </p:spPr>
        <p:txBody>
          <a:bodyPr anchor="b"/>
          <a:lstStyle>
            <a:lvl1pPr algn="ctr">
              <a:defRPr sz="1181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00" y="9454607"/>
            <a:ext cx="13500000" cy="4346034"/>
          </a:xfrm>
        </p:spPr>
        <p:txBody>
          <a:bodyPr/>
          <a:lstStyle>
            <a:lvl1pPr marL="0" indent="0" algn="ctr">
              <a:buNone/>
              <a:defRPr sz="4725"/>
            </a:lvl1pPr>
            <a:lvl2pPr marL="899795" indent="0" algn="ctr">
              <a:buNone/>
              <a:defRPr sz="3935"/>
            </a:lvl2pPr>
            <a:lvl3pPr marL="1800225" indent="0" algn="ctr">
              <a:buNone/>
              <a:defRPr sz="3545"/>
            </a:lvl3pPr>
            <a:lvl4pPr marL="2700020" indent="0" algn="ctr">
              <a:buNone/>
              <a:defRPr sz="3150"/>
            </a:lvl4pPr>
            <a:lvl5pPr marL="3599815" indent="0" algn="ctr">
              <a:buNone/>
              <a:defRPr sz="3150"/>
            </a:lvl5pPr>
            <a:lvl6pPr marL="4500245" indent="0" algn="ctr">
              <a:buNone/>
              <a:defRPr sz="3150"/>
            </a:lvl6pPr>
            <a:lvl7pPr marL="5400040" indent="0" algn="ctr">
              <a:buNone/>
              <a:defRPr sz="3150"/>
            </a:lvl7pPr>
            <a:lvl8pPr marL="6299835" indent="0" algn="ctr">
              <a:buNone/>
              <a:defRPr sz="3150"/>
            </a:lvl8pPr>
            <a:lvl9pPr marL="7200265" indent="0" algn="ctr">
              <a:buNone/>
              <a:defRPr sz="315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25" y="4487710"/>
            <a:ext cx="15525000" cy="7487846"/>
          </a:xfrm>
        </p:spPr>
        <p:txBody>
          <a:bodyPr anchor="b"/>
          <a:lstStyle>
            <a:lvl1pPr>
              <a:defRPr sz="1181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25" y="12046394"/>
            <a:ext cx="15525000" cy="3937681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75000"/>
                  </a:schemeClr>
                </a:solidFill>
              </a:defRPr>
            </a:lvl1pPr>
            <a:lvl2pPr marL="899795" indent="0">
              <a:buNone/>
              <a:defRPr sz="3935">
                <a:solidFill>
                  <a:schemeClr val="tx1">
                    <a:tint val="75000"/>
                  </a:schemeClr>
                </a:solidFill>
              </a:defRPr>
            </a:lvl2pPr>
            <a:lvl3pPr marL="1800225" indent="0">
              <a:buNone/>
              <a:defRPr sz="3545">
                <a:solidFill>
                  <a:schemeClr val="tx1">
                    <a:tint val="75000"/>
                  </a:schemeClr>
                </a:solidFill>
              </a:defRPr>
            </a:lvl3pPr>
            <a:lvl4pPr marL="2700020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4pPr>
            <a:lvl5pPr marL="3599815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5pPr>
            <a:lvl6pPr marL="4500245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6pPr>
            <a:lvl7pPr marL="5400040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7pPr>
            <a:lvl8pPr marL="6299835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8pPr>
            <a:lvl9pPr marL="7200265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00" y="4791889"/>
            <a:ext cx="7650000" cy="11421365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500" y="4791889"/>
            <a:ext cx="7650000" cy="11421365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45" y="958378"/>
            <a:ext cx="15525000" cy="347932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45" y="4412706"/>
            <a:ext cx="7614843" cy="2162599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899795" indent="0">
              <a:buNone/>
              <a:defRPr sz="3935" b="1"/>
            </a:lvl2pPr>
            <a:lvl3pPr marL="1800225" indent="0">
              <a:buNone/>
              <a:defRPr sz="3545" b="1"/>
            </a:lvl3pPr>
            <a:lvl4pPr marL="2700020" indent="0">
              <a:buNone/>
              <a:defRPr sz="3150" b="1"/>
            </a:lvl4pPr>
            <a:lvl5pPr marL="3599815" indent="0">
              <a:buNone/>
              <a:defRPr sz="3150" b="1"/>
            </a:lvl5pPr>
            <a:lvl6pPr marL="4500245" indent="0">
              <a:buNone/>
              <a:defRPr sz="3150" b="1"/>
            </a:lvl6pPr>
            <a:lvl7pPr marL="5400040" indent="0">
              <a:buNone/>
              <a:defRPr sz="3150" b="1"/>
            </a:lvl7pPr>
            <a:lvl8pPr marL="6299835" indent="0">
              <a:buNone/>
              <a:defRPr sz="3150" b="1"/>
            </a:lvl8pPr>
            <a:lvl9pPr marL="7200265" indent="0">
              <a:buNone/>
              <a:defRPr sz="315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45" y="6575305"/>
            <a:ext cx="7614843" cy="967128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500" y="4412706"/>
            <a:ext cx="7652345" cy="2162599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899795" indent="0">
              <a:buNone/>
              <a:defRPr sz="3935" b="1"/>
            </a:lvl2pPr>
            <a:lvl3pPr marL="1800225" indent="0">
              <a:buNone/>
              <a:defRPr sz="3545" b="1"/>
            </a:lvl3pPr>
            <a:lvl4pPr marL="2700020" indent="0">
              <a:buNone/>
              <a:defRPr sz="3150" b="1"/>
            </a:lvl4pPr>
            <a:lvl5pPr marL="3599815" indent="0">
              <a:buNone/>
              <a:defRPr sz="3150" b="1"/>
            </a:lvl5pPr>
            <a:lvl6pPr marL="4500245" indent="0">
              <a:buNone/>
              <a:defRPr sz="3150" b="1"/>
            </a:lvl6pPr>
            <a:lvl7pPr marL="5400040" indent="0">
              <a:buNone/>
              <a:defRPr sz="3150" b="1"/>
            </a:lvl7pPr>
            <a:lvl8pPr marL="6299835" indent="0">
              <a:buNone/>
              <a:defRPr sz="3150" b="1"/>
            </a:lvl8pPr>
            <a:lvl9pPr marL="7200265" indent="0">
              <a:buNone/>
              <a:defRPr sz="315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500" y="6575305"/>
            <a:ext cx="7652345" cy="967128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45" y="1200056"/>
            <a:ext cx="5805468" cy="420019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345" y="2591787"/>
            <a:ext cx="9112500" cy="12792260"/>
          </a:xfrm>
        </p:spPr>
        <p:txBody>
          <a:bodyPr/>
          <a:lstStyle>
            <a:lvl1pPr>
              <a:defRPr sz="6300"/>
            </a:lvl1pPr>
            <a:lvl2pPr>
              <a:defRPr sz="5510"/>
            </a:lvl2pPr>
            <a:lvl3pPr>
              <a:defRPr sz="4725"/>
            </a:lvl3pPr>
            <a:lvl4pPr>
              <a:defRPr sz="3935"/>
            </a:lvl4pPr>
            <a:lvl5pPr>
              <a:defRPr sz="3935"/>
            </a:lvl5pPr>
            <a:lvl6pPr>
              <a:defRPr sz="3935"/>
            </a:lvl6pPr>
            <a:lvl7pPr>
              <a:defRPr sz="3935"/>
            </a:lvl7pPr>
            <a:lvl8pPr>
              <a:defRPr sz="3935"/>
            </a:lvl8pPr>
            <a:lvl9pPr>
              <a:defRPr sz="393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45" y="5400251"/>
            <a:ext cx="5805468" cy="10004632"/>
          </a:xfrm>
        </p:spPr>
        <p:txBody>
          <a:bodyPr/>
          <a:lstStyle>
            <a:lvl1pPr marL="0" indent="0">
              <a:buNone/>
              <a:defRPr sz="3150"/>
            </a:lvl1pPr>
            <a:lvl2pPr marL="899795" indent="0">
              <a:buNone/>
              <a:defRPr sz="2755"/>
            </a:lvl2pPr>
            <a:lvl3pPr marL="1800225" indent="0">
              <a:buNone/>
              <a:defRPr sz="2360"/>
            </a:lvl3pPr>
            <a:lvl4pPr marL="2700020" indent="0">
              <a:buNone/>
              <a:defRPr sz="1970"/>
            </a:lvl4pPr>
            <a:lvl5pPr marL="3599815" indent="0">
              <a:buNone/>
              <a:defRPr sz="1970"/>
            </a:lvl5pPr>
            <a:lvl6pPr marL="4500245" indent="0">
              <a:buNone/>
              <a:defRPr sz="1970"/>
            </a:lvl6pPr>
            <a:lvl7pPr marL="5400040" indent="0">
              <a:buNone/>
              <a:defRPr sz="1970"/>
            </a:lvl7pPr>
            <a:lvl8pPr marL="6299835" indent="0">
              <a:buNone/>
              <a:defRPr sz="1970"/>
            </a:lvl8pPr>
            <a:lvl9pPr marL="7200265" indent="0">
              <a:buNone/>
              <a:defRPr sz="197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45" y="1200056"/>
            <a:ext cx="5805468" cy="420019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652345" y="2591787"/>
            <a:ext cx="9112500" cy="12792260"/>
          </a:xfrm>
        </p:spPr>
        <p:txBody>
          <a:bodyPr/>
          <a:lstStyle>
            <a:lvl1pPr marL="0" indent="0">
              <a:buNone/>
              <a:defRPr sz="6300"/>
            </a:lvl1pPr>
            <a:lvl2pPr marL="899795" indent="0">
              <a:buNone/>
              <a:defRPr sz="5510"/>
            </a:lvl2pPr>
            <a:lvl3pPr marL="1800225" indent="0">
              <a:buNone/>
              <a:defRPr sz="4725"/>
            </a:lvl3pPr>
            <a:lvl4pPr marL="2700020" indent="0">
              <a:buNone/>
              <a:defRPr sz="3935"/>
            </a:lvl4pPr>
            <a:lvl5pPr marL="3599815" indent="0">
              <a:buNone/>
              <a:defRPr sz="3935"/>
            </a:lvl5pPr>
            <a:lvl6pPr marL="4500245" indent="0">
              <a:buNone/>
              <a:defRPr sz="3935"/>
            </a:lvl6pPr>
            <a:lvl7pPr marL="5400040" indent="0">
              <a:buNone/>
              <a:defRPr sz="3935"/>
            </a:lvl7pPr>
            <a:lvl8pPr marL="6299835" indent="0">
              <a:buNone/>
              <a:defRPr sz="3935"/>
            </a:lvl8pPr>
            <a:lvl9pPr marL="7200265" indent="0">
              <a:buNone/>
              <a:defRPr sz="3935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45" y="5400251"/>
            <a:ext cx="5805468" cy="10004632"/>
          </a:xfrm>
        </p:spPr>
        <p:txBody>
          <a:bodyPr/>
          <a:lstStyle>
            <a:lvl1pPr marL="0" indent="0">
              <a:buNone/>
              <a:defRPr sz="3150"/>
            </a:lvl1pPr>
            <a:lvl2pPr marL="899795" indent="0">
              <a:buNone/>
              <a:defRPr sz="2755"/>
            </a:lvl2pPr>
            <a:lvl3pPr marL="1800225" indent="0">
              <a:buNone/>
              <a:defRPr sz="2360"/>
            </a:lvl3pPr>
            <a:lvl4pPr marL="2700020" indent="0">
              <a:buNone/>
              <a:defRPr sz="1970"/>
            </a:lvl4pPr>
            <a:lvl5pPr marL="3599815" indent="0">
              <a:buNone/>
              <a:defRPr sz="1970"/>
            </a:lvl5pPr>
            <a:lvl6pPr marL="4500245" indent="0">
              <a:buNone/>
              <a:defRPr sz="1970"/>
            </a:lvl6pPr>
            <a:lvl7pPr marL="5400040" indent="0">
              <a:buNone/>
              <a:defRPr sz="1970"/>
            </a:lvl7pPr>
            <a:lvl8pPr marL="6299835" indent="0">
              <a:buNone/>
              <a:defRPr sz="1970"/>
            </a:lvl8pPr>
            <a:lvl9pPr marL="7200265" indent="0">
              <a:buNone/>
              <a:defRPr sz="197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250" y="958378"/>
            <a:ext cx="3881250" cy="1525487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00" y="958378"/>
            <a:ext cx="11418750" cy="1525487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00" y="958378"/>
            <a:ext cx="15525000" cy="34793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00" y="4791889"/>
            <a:ext cx="15525000" cy="11421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00" y="16684107"/>
            <a:ext cx="4050000" cy="9583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500" y="16684107"/>
            <a:ext cx="6075000" cy="9583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500" y="16684107"/>
            <a:ext cx="4050000" cy="9583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800225" rtl="0" eaLnBrk="1" latinLnBrk="0" hangingPunct="1">
        <a:lnSpc>
          <a:spcPct val="90000"/>
        </a:lnSpc>
        <a:spcBef>
          <a:spcPct val="0"/>
        </a:spcBef>
        <a:buNone/>
        <a:defRPr sz="86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215" indent="-450215" algn="l" defTabSz="1800225" rtl="0" eaLnBrk="1" latinLnBrk="0" hangingPunct="1">
        <a:lnSpc>
          <a:spcPct val="90000"/>
        </a:lnSpc>
        <a:spcBef>
          <a:spcPct val="395000"/>
        </a:spcBef>
        <a:buFont typeface="Arial" panose="020B0604020202020204" pitchFamily="34" charset="0"/>
        <a:buChar char="•"/>
        <a:defRPr sz="5510" kern="1200">
          <a:solidFill>
            <a:schemeClr val="tx1"/>
          </a:solidFill>
          <a:latin typeface="+mn-lt"/>
          <a:ea typeface="+mn-ea"/>
          <a:cs typeface="+mn-cs"/>
        </a:defRPr>
      </a:lvl1pPr>
      <a:lvl2pPr marL="1350010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49805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935" kern="1200">
          <a:solidFill>
            <a:schemeClr val="tx1"/>
          </a:solidFill>
          <a:latin typeface="+mn-lt"/>
          <a:ea typeface="+mn-ea"/>
          <a:cs typeface="+mn-cs"/>
        </a:defRPr>
      </a:lvl3pPr>
      <a:lvl4pPr marL="3150235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4pPr>
      <a:lvl5pPr marL="4050030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5pPr>
      <a:lvl6pPr marL="4949825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6pPr>
      <a:lvl7pPr marL="5850255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7pPr>
      <a:lvl8pPr marL="6750050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8pPr>
      <a:lvl9pPr marL="7649845" indent="-450215" algn="l" defTabSz="1800225" rtl="0" eaLnBrk="1" latinLnBrk="0" hangingPunct="1">
        <a:lnSpc>
          <a:spcPct val="90000"/>
        </a:lnSpc>
        <a:spcBef>
          <a:spcPct val="198000"/>
        </a:spcBef>
        <a:buFont typeface="Arial" panose="020B0604020202020204" pitchFamily="34" charset="0"/>
        <a:buChar char="•"/>
        <a:defRPr sz="354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1pPr>
      <a:lvl2pPr marL="89979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2pPr>
      <a:lvl3pPr marL="180022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3pPr>
      <a:lvl4pPr marL="2700020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4pPr>
      <a:lvl5pPr marL="359981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5pPr>
      <a:lvl6pPr marL="450024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6pPr>
      <a:lvl7pPr marL="5400040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7pPr>
      <a:lvl8pPr marL="629983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8pPr>
      <a:lvl9pPr marL="7200265" algn="l" defTabSz="1800225" rtl="0" eaLnBrk="1" latinLnBrk="0" hangingPunct="1">
        <a:defRPr sz="354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Rounded Rectangle 8"/>
          <p:cNvSpPr/>
          <p:nvPr/>
        </p:nvSpPr>
        <p:spPr>
          <a:xfrm>
            <a:off x="9065599" y="1548435"/>
            <a:ext cx="2574241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bdy_get_distances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589926" y="3112613"/>
            <a:ext cx="1994896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all colonies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9640641" y="405608"/>
            <a:ext cx="1177439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030A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7030A0"/>
                </a:solidFill>
              </a:rPr>
              <a:t>parcs</a:t>
            </a:r>
            <a:endParaRPr lang="fr-FR" altLang="en-US" sz="2065" b="1">
              <a:solidFill>
                <a:srgbClr val="7030A0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1970928" y="500858"/>
            <a:ext cx="1841154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cost matrix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192155" y="2690250"/>
            <a:ext cx="2321129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eucl &amp; shpa dist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0738485" y="5050790"/>
            <a:ext cx="257429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bdy_apportionning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995231" y="7088426"/>
            <a:ext cx="2321129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030A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7030A0"/>
                </a:solidFill>
              </a:rPr>
              <a:t>bird params</a:t>
            </a:r>
            <a:endParaRPr lang="fr-FR" altLang="en-US" sz="2065" b="1">
              <a:solidFill>
                <a:srgbClr val="7030A0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12508773" y="2689703"/>
            <a:ext cx="1841154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sea_area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19" name="Curved Connector 18"/>
          <p:cNvCxnSpPr>
            <a:stCxn id="13" idx="2"/>
            <a:endCxn id="14" idx="0"/>
          </p:cNvCxnSpPr>
          <p:nvPr/>
        </p:nvCxnSpPr>
        <p:spPr>
          <a:xfrm rot="5400000" flipV="1">
            <a:off x="10298430" y="3323590"/>
            <a:ext cx="1781810" cy="167259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Curved Connector 19"/>
          <p:cNvCxnSpPr>
            <a:stCxn id="11" idx="2"/>
            <a:endCxn id="9" idx="0"/>
          </p:cNvCxnSpPr>
          <p:nvPr/>
        </p:nvCxnSpPr>
        <p:spPr>
          <a:xfrm rot="5400000" flipV="1">
            <a:off x="10009188" y="1204278"/>
            <a:ext cx="563880" cy="123825"/>
          </a:xfrm>
          <a:prstGeom prst="curvedConnector3">
            <a:avLst>
              <a:gd name="adj1" fmla="val 49944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" name="Curved Connector 22"/>
          <p:cNvCxnSpPr>
            <a:stCxn id="12" idx="2"/>
            <a:endCxn id="9" idx="3"/>
          </p:cNvCxnSpPr>
          <p:nvPr/>
        </p:nvCxnSpPr>
        <p:spPr>
          <a:xfrm rot="5400000">
            <a:off x="11886565" y="833120"/>
            <a:ext cx="758190" cy="1250950"/>
          </a:xfrm>
          <a:prstGeom prst="curvedConnector2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" name="Curved Connector 23"/>
          <p:cNvCxnSpPr>
            <a:stCxn id="9" idx="2"/>
            <a:endCxn id="13" idx="0"/>
          </p:cNvCxnSpPr>
          <p:nvPr/>
        </p:nvCxnSpPr>
        <p:spPr>
          <a:xfrm rot="5400000">
            <a:off x="10070465" y="2407920"/>
            <a:ext cx="563880" cy="3175"/>
          </a:xfrm>
          <a:prstGeom prst="curvedConnector3">
            <a:avLst>
              <a:gd name="adj1" fmla="val 49944"/>
            </a:avLst>
          </a:prstGeom>
          <a:ln>
            <a:solidFill>
              <a:schemeClr val="accent6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Curved Connector 24"/>
          <p:cNvCxnSpPr>
            <a:stCxn id="15" idx="3"/>
            <a:endCxn id="14" idx="1"/>
          </p:cNvCxnSpPr>
          <p:nvPr/>
        </p:nvCxnSpPr>
        <p:spPr>
          <a:xfrm flipV="1">
            <a:off x="9316085" y="5340350"/>
            <a:ext cx="1422400" cy="2037715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Curved Connector 25"/>
          <p:cNvCxnSpPr>
            <a:stCxn id="16" idx="1"/>
            <a:endCxn id="14" idx="3"/>
          </p:cNvCxnSpPr>
          <p:nvPr/>
        </p:nvCxnSpPr>
        <p:spPr>
          <a:xfrm rot="10800000" flipH="1" flipV="1">
            <a:off x="12508865" y="2979420"/>
            <a:ext cx="803910" cy="2360930"/>
          </a:xfrm>
          <a:prstGeom prst="curvedConnector5">
            <a:avLst>
              <a:gd name="adj1" fmla="val -29621"/>
              <a:gd name="adj2" fmla="val 50000"/>
              <a:gd name="adj3" fmla="val 129621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1041923" y="6192998"/>
            <a:ext cx="1841154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RW_group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9192260" y="8285480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bdy_processing_mortality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13425805" y="8285480"/>
            <a:ext cx="302895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clean mortality table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32" name="Curved Connector 31"/>
          <p:cNvCxnSpPr>
            <a:stCxn id="29" idx="2"/>
            <a:endCxn id="30" idx="0"/>
          </p:cNvCxnSpPr>
          <p:nvPr/>
        </p:nvCxnSpPr>
        <p:spPr>
          <a:xfrm rot="5400000">
            <a:off x="10667048" y="6989763"/>
            <a:ext cx="1513840" cy="1077595"/>
          </a:xfrm>
          <a:prstGeom prst="curvedConnector3">
            <a:avLst>
              <a:gd name="adj1" fmla="val 49979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Curved Connector 32"/>
          <p:cNvCxnSpPr>
            <a:stCxn id="14" idx="2"/>
            <a:endCxn id="29" idx="0"/>
          </p:cNvCxnSpPr>
          <p:nvPr/>
        </p:nvCxnSpPr>
        <p:spPr>
          <a:xfrm rot="5400000">
            <a:off x="11711940" y="5879465"/>
            <a:ext cx="563880" cy="6350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752725" y="9453880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bdy_model_no_impact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39" name="Curved Connector 38"/>
          <p:cNvCxnSpPr>
            <a:stCxn id="15" idx="2"/>
            <a:endCxn id="30" idx="1"/>
          </p:cNvCxnSpPr>
          <p:nvPr/>
        </p:nvCxnSpPr>
        <p:spPr>
          <a:xfrm rot="5400000" flipV="1">
            <a:off x="8220075" y="7602855"/>
            <a:ext cx="908050" cy="1036320"/>
          </a:xfrm>
          <a:prstGeom prst="curvedConnector2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Curved Connector 39"/>
          <p:cNvCxnSpPr>
            <a:stCxn id="15" idx="2"/>
            <a:endCxn id="36" idx="0"/>
          </p:cNvCxnSpPr>
          <p:nvPr/>
        </p:nvCxnSpPr>
        <p:spPr>
          <a:xfrm rot="5400000">
            <a:off x="5407343" y="6705283"/>
            <a:ext cx="1786890" cy="3710305"/>
          </a:xfrm>
          <a:prstGeom prst="curvedConnector3">
            <a:avLst>
              <a:gd name="adj1" fmla="val 49982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009015" y="7996555"/>
            <a:ext cx="199771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group counts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3935730" y="7244715"/>
            <a:ext cx="1974215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ppa_yr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43" name="Curved Connector 42"/>
          <p:cNvCxnSpPr>
            <a:stCxn id="41" idx="2"/>
            <a:endCxn id="36" idx="1"/>
          </p:cNvCxnSpPr>
          <p:nvPr/>
        </p:nvCxnSpPr>
        <p:spPr>
          <a:xfrm rot="5400000" flipV="1">
            <a:off x="1796098" y="8786813"/>
            <a:ext cx="1168400" cy="744855"/>
          </a:xfrm>
          <a:prstGeom prst="curvedConnector2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3319851" y="11079401"/>
            <a:ext cx="2321129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no impact output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47" name="Curved Connector 46"/>
          <p:cNvCxnSpPr>
            <a:stCxn id="36" idx="2"/>
            <a:endCxn id="45" idx="0"/>
          </p:cNvCxnSpPr>
          <p:nvPr/>
        </p:nvCxnSpPr>
        <p:spPr>
          <a:xfrm rot="5400000" flipV="1">
            <a:off x="3939540" y="10538460"/>
            <a:ext cx="1047115" cy="34925"/>
          </a:xfrm>
          <a:prstGeom prst="curvedConnector3">
            <a:avLst>
              <a:gd name="adj1" fmla="val 5003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10188011" y="9455706"/>
            <a:ext cx="2321129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morta_iter_group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49" name="Curved Connector 48"/>
          <p:cNvCxnSpPr>
            <a:stCxn id="30" idx="2"/>
            <a:endCxn id="48" idx="0"/>
          </p:cNvCxnSpPr>
          <p:nvPr/>
        </p:nvCxnSpPr>
        <p:spPr>
          <a:xfrm rot="5400000" flipV="1">
            <a:off x="10821035" y="8928100"/>
            <a:ext cx="591820" cy="46355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7341870" y="11079480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bdy_model_with_impact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51" name="Curved Connector 50"/>
          <p:cNvCxnSpPr>
            <a:stCxn id="45" idx="2"/>
            <a:endCxn id="50" idx="1"/>
          </p:cNvCxnSpPr>
          <p:nvPr/>
        </p:nvCxnSpPr>
        <p:spPr>
          <a:xfrm rot="5400000" flipH="1" flipV="1">
            <a:off x="5766753" y="10082848"/>
            <a:ext cx="288925" cy="2861310"/>
          </a:xfrm>
          <a:prstGeom prst="curvedConnector4">
            <a:avLst>
              <a:gd name="adj1" fmla="val -82308"/>
              <a:gd name="adj2" fmla="val 70273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2" name="Curved Connector 51"/>
          <p:cNvCxnSpPr>
            <a:stCxn id="48" idx="2"/>
            <a:endCxn id="50" idx="3"/>
          </p:cNvCxnSpPr>
          <p:nvPr/>
        </p:nvCxnSpPr>
        <p:spPr>
          <a:xfrm rot="5400000">
            <a:off x="10370820" y="10391140"/>
            <a:ext cx="1334770" cy="62103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7585075" y="12386945"/>
            <a:ext cx="276606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with impact output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54" name="Curved Connector 53"/>
          <p:cNvCxnSpPr>
            <a:stCxn id="50" idx="2"/>
            <a:endCxn id="53" idx="0"/>
          </p:cNvCxnSpPr>
          <p:nvPr/>
        </p:nvCxnSpPr>
        <p:spPr>
          <a:xfrm rot="5400000">
            <a:off x="8636953" y="11989118"/>
            <a:ext cx="728980" cy="66675"/>
          </a:xfrm>
          <a:prstGeom prst="curvedConnector3">
            <a:avLst>
              <a:gd name="adj1" fmla="val 49956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Curved Connector 54"/>
          <p:cNvCxnSpPr>
            <a:stCxn id="31" idx="1"/>
            <a:endCxn id="30" idx="3"/>
          </p:cNvCxnSpPr>
          <p:nvPr/>
        </p:nvCxnSpPr>
        <p:spPr>
          <a:xfrm rot="10800000" flipV="1">
            <a:off x="12578080" y="8575040"/>
            <a:ext cx="847725" cy="3175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4570075" y="1685290"/>
            <a:ext cx="315087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bdy_caculate_sea_area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57" name="Curved Connector 56"/>
          <p:cNvCxnSpPr>
            <a:stCxn id="56" idx="2"/>
            <a:endCxn id="16" idx="3"/>
          </p:cNvCxnSpPr>
          <p:nvPr/>
        </p:nvCxnSpPr>
        <p:spPr>
          <a:xfrm rot="5400000">
            <a:off x="14889798" y="1723708"/>
            <a:ext cx="715645" cy="1795780"/>
          </a:xfrm>
          <a:prstGeom prst="curvedConnector2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13983335" y="7088505"/>
            <a:ext cx="315087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bdy_check_mortality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14765655" y="5904230"/>
            <a:ext cx="2759075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030A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7030A0"/>
                </a:solidFill>
              </a:rPr>
              <a:t>raw mortality table</a:t>
            </a:r>
            <a:endParaRPr lang="fr-FR" altLang="en-US" sz="2065" b="1">
              <a:solidFill>
                <a:srgbClr val="7030A0"/>
              </a:solidFill>
            </a:endParaRPr>
          </a:p>
        </p:txBody>
      </p:sp>
      <p:cxnSp>
        <p:nvCxnSpPr>
          <p:cNvPr id="60" name="Curved Connector 59"/>
          <p:cNvCxnSpPr>
            <a:stCxn id="59" idx="2"/>
            <a:endCxn id="58" idx="0"/>
          </p:cNvCxnSpPr>
          <p:nvPr/>
        </p:nvCxnSpPr>
        <p:spPr>
          <a:xfrm rot="5400000">
            <a:off x="15549245" y="6492240"/>
            <a:ext cx="605790" cy="58674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1" name="Curved Connector 60"/>
          <p:cNvCxnSpPr>
            <a:stCxn id="58" idx="2"/>
            <a:endCxn id="31" idx="0"/>
          </p:cNvCxnSpPr>
          <p:nvPr/>
        </p:nvCxnSpPr>
        <p:spPr>
          <a:xfrm rot="5400000">
            <a:off x="14940280" y="7666990"/>
            <a:ext cx="618490" cy="61849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14570075" y="151130"/>
            <a:ext cx="315087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bdy_get_cost_raster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63" name="Curved Connector 62"/>
          <p:cNvCxnSpPr>
            <a:stCxn id="62" idx="1"/>
            <a:endCxn id="12" idx="3"/>
          </p:cNvCxnSpPr>
          <p:nvPr/>
        </p:nvCxnSpPr>
        <p:spPr>
          <a:xfrm rot="10800000" flipV="1">
            <a:off x="13811885" y="440690"/>
            <a:ext cx="758190" cy="34925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7072630" y="9455785"/>
            <a:ext cx="260477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bdy_get_pop_vector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65" name="Curved Connector 64"/>
          <p:cNvCxnSpPr>
            <a:stCxn id="36" idx="3"/>
            <a:endCxn id="64" idx="0"/>
          </p:cNvCxnSpPr>
          <p:nvPr/>
        </p:nvCxnSpPr>
        <p:spPr>
          <a:xfrm flipV="1">
            <a:off x="6138545" y="9455785"/>
            <a:ext cx="2236470" cy="287655"/>
          </a:xfrm>
          <a:prstGeom prst="curvedConnector4">
            <a:avLst>
              <a:gd name="adj1" fmla="val 20897"/>
              <a:gd name="adj2" fmla="val 183444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6" name="Curved Connector 65"/>
          <p:cNvCxnSpPr>
            <a:stCxn id="64" idx="2"/>
          </p:cNvCxnSpPr>
          <p:nvPr/>
        </p:nvCxnSpPr>
        <p:spPr>
          <a:xfrm rot="5400000" flipH="1">
            <a:off x="7141845" y="8800465"/>
            <a:ext cx="234315" cy="2232025"/>
          </a:xfrm>
          <a:prstGeom prst="curvedConnector4">
            <a:avLst>
              <a:gd name="adj1" fmla="val -101626"/>
              <a:gd name="adj2" fmla="val 79147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7341870" y="13583285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bdy_raw_res_table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7341870" y="15789275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bdy_pretty_res_table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cxnSp>
        <p:nvCxnSpPr>
          <p:cNvPr id="69" name="Curved Connector 68"/>
          <p:cNvCxnSpPr>
            <a:stCxn id="53" idx="2"/>
            <a:endCxn id="67" idx="0"/>
          </p:cNvCxnSpPr>
          <p:nvPr/>
        </p:nvCxnSpPr>
        <p:spPr>
          <a:xfrm rot="5400000" flipV="1">
            <a:off x="8692515" y="13240385"/>
            <a:ext cx="617855" cy="66675"/>
          </a:xfrm>
          <a:prstGeom prst="curvedConnector3">
            <a:avLst>
              <a:gd name="adj1" fmla="val 50051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7585075" y="14615160"/>
            <a:ext cx="276606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raw res tables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71" name="Curved Connector 70"/>
          <p:cNvCxnSpPr>
            <a:stCxn id="67" idx="2"/>
            <a:endCxn id="70" idx="0"/>
          </p:cNvCxnSpPr>
          <p:nvPr/>
        </p:nvCxnSpPr>
        <p:spPr>
          <a:xfrm rot="5400000">
            <a:off x="8774430" y="14354810"/>
            <a:ext cx="453390" cy="66675"/>
          </a:xfrm>
          <a:prstGeom prst="curvedConnector3">
            <a:avLst>
              <a:gd name="adj1" fmla="val 4993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2" name="Curved Connector 71"/>
          <p:cNvCxnSpPr>
            <a:stCxn id="70" idx="2"/>
            <a:endCxn id="68" idx="0"/>
          </p:cNvCxnSpPr>
          <p:nvPr/>
        </p:nvCxnSpPr>
        <p:spPr>
          <a:xfrm rot="5400000" flipV="1">
            <a:off x="8703628" y="15458123"/>
            <a:ext cx="595630" cy="66675"/>
          </a:xfrm>
          <a:prstGeom prst="curvedConnector3">
            <a:avLst>
              <a:gd name="adj1" fmla="val 49947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3425805" y="15916275"/>
            <a:ext cx="3385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00B050"/>
                </a:solidFill>
              </a:rPr>
              <a:t>bdy_pretty_res_table</a:t>
            </a:r>
            <a:endParaRPr lang="fr-FR" altLang="en-US" sz="2065" b="1">
              <a:solidFill>
                <a:srgbClr val="00B050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731125" y="16889730"/>
            <a:ext cx="276606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pretty res tables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75" name="Curved Connector 74"/>
          <p:cNvCxnSpPr>
            <a:stCxn id="68" idx="2"/>
            <a:endCxn id="74" idx="0"/>
          </p:cNvCxnSpPr>
          <p:nvPr/>
        </p:nvCxnSpPr>
        <p:spPr>
          <a:xfrm rot="5400000" flipV="1">
            <a:off x="8813165" y="16588740"/>
            <a:ext cx="521970" cy="79375"/>
          </a:xfrm>
          <a:prstGeom prst="curvedConnector3">
            <a:avLst>
              <a:gd name="adj1" fmla="val 49939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6" name="Curved Connector 75"/>
          <p:cNvCxnSpPr>
            <a:stCxn id="70" idx="3"/>
            <a:endCxn id="73" idx="1"/>
          </p:cNvCxnSpPr>
          <p:nvPr/>
        </p:nvCxnSpPr>
        <p:spPr>
          <a:xfrm>
            <a:off x="10351135" y="14904720"/>
            <a:ext cx="3074670" cy="1301115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7" name="Curved Connector 76"/>
          <p:cNvCxnSpPr>
            <a:stCxn id="74" idx="3"/>
            <a:endCxn id="73" idx="1"/>
          </p:cNvCxnSpPr>
          <p:nvPr/>
        </p:nvCxnSpPr>
        <p:spPr>
          <a:xfrm flipV="1">
            <a:off x="10497185" y="16205835"/>
            <a:ext cx="2928620" cy="973455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8" name="Curved Connector 77"/>
          <p:cNvCxnSpPr>
            <a:stCxn id="42" idx="2"/>
            <a:endCxn id="36" idx="0"/>
          </p:cNvCxnSpPr>
          <p:nvPr/>
        </p:nvCxnSpPr>
        <p:spPr>
          <a:xfrm rot="5400000">
            <a:off x="3869055" y="8399780"/>
            <a:ext cx="1630680" cy="47752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3594756" y="405608"/>
            <a:ext cx="1994896" cy="578407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030A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rgbClr val="7030A0"/>
                </a:solidFill>
              </a:rPr>
              <a:t>effectif data</a:t>
            </a:r>
            <a:endParaRPr lang="fr-FR" altLang="en-US" sz="2065" b="1">
              <a:solidFill>
                <a:srgbClr val="7030A0"/>
              </a:solidFill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011170" y="1685290"/>
            <a:ext cx="3131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6"/>
                </a:solidFill>
              </a:rPr>
              <a:t>bdy_check_colonies</a:t>
            </a:r>
            <a:endParaRPr lang="fr-FR" altLang="en-US" sz="2065" b="1">
              <a:solidFill>
                <a:schemeClr val="accent6"/>
              </a:solidFill>
            </a:endParaRPr>
          </a:p>
        </p:txBody>
      </p:sp>
      <p:cxnSp>
        <p:nvCxnSpPr>
          <p:cNvPr id="83" name="Curved Connector 82"/>
          <p:cNvCxnSpPr>
            <a:stCxn id="79" idx="2"/>
            <a:endCxn id="80" idx="0"/>
          </p:cNvCxnSpPr>
          <p:nvPr/>
        </p:nvCxnSpPr>
        <p:spPr>
          <a:xfrm rot="5400000">
            <a:off x="4234180" y="1327150"/>
            <a:ext cx="701040" cy="1524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100965" y="5614670"/>
            <a:ext cx="2370455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6"/>
                </a:solidFill>
              </a:rPr>
              <a:t>bdy_clustering</a:t>
            </a:r>
            <a:endParaRPr lang="fr-FR" altLang="en-US" sz="2065" b="1">
              <a:solidFill>
                <a:schemeClr val="accent6"/>
              </a:solidFill>
            </a:endParaRPr>
          </a:p>
        </p:txBody>
      </p:sp>
      <p:cxnSp>
        <p:nvCxnSpPr>
          <p:cNvPr id="94" name="Straight Connector 93"/>
          <p:cNvCxnSpPr/>
          <p:nvPr/>
        </p:nvCxnSpPr>
        <p:spPr>
          <a:xfrm flipH="1">
            <a:off x="0" y="4512945"/>
            <a:ext cx="18102580" cy="45720"/>
          </a:xfrm>
          <a:prstGeom prst="line">
            <a:avLst/>
          </a:prstGeom>
          <a:ln w="38100" cap="flat" cmpd="sng" algn="ctr">
            <a:solidFill>
              <a:schemeClr val="accent4">
                <a:lumMod val="50000"/>
              </a:schemeClr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5" name="Text Box 94"/>
          <p:cNvSpPr txBox="1"/>
          <p:nvPr/>
        </p:nvSpPr>
        <p:spPr>
          <a:xfrm>
            <a:off x="16170275" y="3968750"/>
            <a:ext cx="1710690" cy="3822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fr-FR" altLang="en-US" b="1">
                <a:solidFill>
                  <a:schemeClr val="accent4">
                    <a:lumMod val="50000"/>
                  </a:schemeClr>
                </a:solidFill>
              </a:rPr>
              <a:t>species level</a:t>
            </a:r>
            <a:endParaRPr lang="fr-FR" altLang="en-US" b="1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" name="Rounded Rectangle 1"/>
          <p:cNvSpPr/>
          <p:nvPr/>
        </p:nvSpPr>
        <p:spPr>
          <a:xfrm>
            <a:off x="1009015" y="3112770"/>
            <a:ext cx="266573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clean effectif data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3319780" y="5492750"/>
            <a:ext cx="3131820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6"/>
                </a:solidFill>
              </a:rPr>
              <a:t>bdy_process_count_data</a:t>
            </a:r>
            <a:endParaRPr lang="fr-FR" altLang="en-US" sz="2065" b="1">
              <a:solidFill>
                <a:schemeClr val="accent6"/>
              </a:solidFill>
            </a:endParaRPr>
          </a:p>
        </p:txBody>
      </p:sp>
      <p:cxnSp>
        <p:nvCxnSpPr>
          <p:cNvPr id="5" name="Curved Connector 4"/>
          <p:cNvCxnSpPr>
            <a:stCxn id="10" idx="3"/>
            <a:endCxn id="9" idx="1"/>
          </p:cNvCxnSpPr>
          <p:nvPr/>
        </p:nvCxnSpPr>
        <p:spPr>
          <a:xfrm flipV="1">
            <a:off x="7585075" y="1837690"/>
            <a:ext cx="1480820" cy="156464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urved Connector 5"/>
          <p:cNvCxnSpPr>
            <a:stCxn id="80" idx="2"/>
            <a:endCxn id="2" idx="0"/>
          </p:cNvCxnSpPr>
          <p:nvPr/>
        </p:nvCxnSpPr>
        <p:spPr>
          <a:xfrm rot="5400000">
            <a:off x="3034983" y="1570673"/>
            <a:ext cx="848995" cy="223520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urved Connector 6"/>
          <p:cNvCxnSpPr>
            <a:stCxn id="2" idx="2"/>
            <a:endCxn id="3" idx="0"/>
          </p:cNvCxnSpPr>
          <p:nvPr/>
        </p:nvCxnSpPr>
        <p:spPr>
          <a:xfrm rot="5400000" flipV="1">
            <a:off x="2713038" y="3320098"/>
            <a:ext cx="1801495" cy="254381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Curved Connector 7"/>
          <p:cNvCxnSpPr>
            <a:stCxn id="10" idx="2"/>
            <a:endCxn id="3" idx="0"/>
          </p:cNvCxnSpPr>
          <p:nvPr/>
        </p:nvCxnSpPr>
        <p:spPr>
          <a:xfrm rot="5400000">
            <a:off x="4835843" y="3741103"/>
            <a:ext cx="1801495" cy="17018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41870" y="5325745"/>
            <a:ext cx="1974215" cy="578485"/>
          </a:xfrm>
          <a:prstGeom prst="roundRect">
            <a:avLst>
              <a:gd name="adj" fmla="val 50000"/>
            </a:avLst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fr-FR" altLang="en-US" sz="2065" b="1">
                <a:solidFill>
                  <a:schemeClr val="accent5"/>
                </a:solidFill>
              </a:rPr>
              <a:t>colonies_sp</a:t>
            </a:r>
            <a:endParaRPr lang="fr-FR" altLang="en-US" sz="2065" b="1">
              <a:solidFill>
                <a:schemeClr val="accent5"/>
              </a:solidFill>
            </a:endParaRPr>
          </a:p>
        </p:txBody>
      </p:sp>
      <p:cxnSp>
        <p:nvCxnSpPr>
          <p:cNvPr id="34" name="Curved Connector 33"/>
          <p:cNvCxnSpPr>
            <a:stCxn id="80" idx="2"/>
            <a:endCxn id="10" idx="0"/>
          </p:cNvCxnSpPr>
          <p:nvPr/>
        </p:nvCxnSpPr>
        <p:spPr>
          <a:xfrm rot="5400000" flipV="1">
            <a:off x="5157788" y="1683068"/>
            <a:ext cx="848995" cy="201041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" name="Curved Connector 34"/>
          <p:cNvCxnSpPr>
            <a:stCxn id="3" idx="3"/>
            <a:endCxn id="27" idx="1"/>
          </p:cNvCxnSpPr>
          <p:nvPr/>
        </p:nvCxnSpPr>
        <p:spPr>
          <a:xfrm flipV="1">
            <a:off x="6451600" y="5615305"/>
            <a:ext cx="890270" cy="167005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7" name="Curved Connector 36"/>
          <p:cNvCxnSpPr>
            <a:stCxn id="27" idx="3"/>
            <a:endCxn id="14" idx="1"/>
          </p:cNvCxnSpPr>
          <p:nvPr/>
        </p:nvCxnSpPr>
        <p:spPr>
          <a:xfrm flipV="1">
            <a:off x="9316085" y="5340350"/>
            <a:ext cx="1422400" cy="274955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Curved Connector 37"/>
          <p:cNvCxnSpPr>
            <a:stCxn id="3" idx="2"/>
            <a:endCxn id="42" idx="0"/>
          </p:cNvCxnSpPr>
          <p:nvPr/>
        </p:nvCxnSpPr>
        <p:spPr>
          <a:xfrm rot="5400000" flipV="1">
            <a:off x="4317365" y="6638925"/>
            <a:ext cx="1173480" cy="37465"/>
          </a:xfrm>
          <a:prstGeom prst="curvedConnector3">
            <a:avLst>
              <a:gd name="adj1" fmla="val 49973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4" name="Curved Connector 43"/>
          <p:cNvCxnSpPr>
            <a:stCxn id="3" idx="2"/>
            <a:endCxn id="41" idx="0"/>
          </p:cNvCxnSpPr>
          <p:nvPr/>
        </p:nvCxnSpPr>
        <p:spPr>
          <a:xfrm rot="5400000">
            <a:off x="2484120" y="5594985"/>
            <a:ext cx="1925320" cy="2877820"/>
          </a:xfrm>
          <a:prstGeom prst="curvedConnector3">
            <a:avLst>
              <a:gd name="adj1" fmla="val 50000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" name="Curved Connector 45"/>
          <p:cNvCxnSpPr>
            <a:stCxn id="3" idx="1"/>
            <a:endCxn id="88" idx="0"/>
          </p:cNvCxnSpPr>
          <p:nvPr/>
        </p:nvCxnSpPr>
        <p:spPr>
          <a:xfrm rot="10800000">
            <a:off x="1286510" y="5614670"/>
            <a:ext cx="2033270" cy="167640"/>
          </a:xfrm>
          <a:prstGeom prst="curvedConnector4">
            <a:avLst>
              <a:gd name="adj1" fmla="val 20862"/>
              <a:gd name="adj2" fmla="val 314773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" name="Curved Connector 80"/>
          <p:cNvCxnSpPr>
            <a:stCxn id="88" idx="2"/>
            <a:endCxn id="3" idx="1"/>
          </p:cNvCxnSpPr>
          <p:nvPr/>
        </p:nvCxnSpPr>
        <p:spPr>
          <a:xfrm rot="5400000" flipH="1" flipV="1">
            <a:off x="2098040" y="4970780"/>
            <a:ext cx="410845" cy="2033270"/>
          </a:xfrm>
          <a:prstGeom prst="curvedConnector4">
            <a:avLst>
              <a:gd name="adj1" fmla="val -57883"/>
              <a:gd name="adj2" fmla="val 79122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552</Words>
  <Application>WPS Presentation</Application>
  <PresentationFormat>Widescreen</PresentationFormat>
  <Paragraphs>70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SimSun</vt:lpstr>
      <vt:lpstr>Wingdings</vt:lpstr>
      <vt:lpstr>Calibri</vt:lpstr>
      <vt:lpstr>Microsoft YaHei</vt:lpstr>
      <vt:lpstr>Arial Unicode MS</vt:lpstr>
      <vt:lpstr>Calibri Light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bapti</dc:creator>
  <cp:lastModifiedBy>Baptiste</cp:lastModifiedBy>
  <cp:revision>5</cp:revision>
  <dcterms:created xsi:type="dcterms:W3CDTF">2025-07-23T00:59:00Z</dcterms:created>
  <dcterms:modified xsi:type="dcterms:W3CDTF">2026-05-11T08:34:15Z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0E25FAD055834C2199D15360173BA892_11</vt:lpwstr>
  </property>
  <property fmtid="{D5CDD505-2E9C-101B-9397-08002B2CF9AE}" pid="3" name="KSOProductBuildVer">
    <vt:lpwstr>1033-12.2.0.23196</vt:lpwstr>
  </property>
</Properties>
</file>